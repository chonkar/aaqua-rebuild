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AAQUA = AI-Assisted QA Utility Application. The pitch: one AI-powered web platform that spans the whole QA lifecycle, running on an on-prem LLM so data stays internal.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AAQUA against the real pain: manual effort, tool sprawl, no single quality signal, and cloud-AI data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breadth slide — AAQUA is a suite, not a single tool. Each item is a dedicated module in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AAQUA is a two-process web app (React frontend + Express backend) that orchestrates four engines: a local LLM for generation/analysis, OWASP ZAP for security, Playwright for execution, and PostgreSQL for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functional side: test cases, test plans and test data — all AI-generated and export-ready.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testing supports both per-endpoint cases and multi-step process flows, and emits both manual checklists and runnable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accelerate getting teams onto solid automation: scaffold new frameworks, get robust locators, and migrate legacy suites.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runner closes the loop — execute, stream logs, auto-heal failures, and feed outcomes into the release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AAQUA also covers non-functional quality: localization and accessibility, both AI-augmented and tracked per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dedicated security subsystem wraps OWASP ZAP with AI triage and ties into governance and Jira.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turns all the module outputs into one release-readiness signal, with automated gating against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Identity is delegated to Keycloak (no local passwords); Jira for defect flow; on-prem LLM for privacy; deployed on shared container infra.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stack slide for technical audiences.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one-liner and the four pillars: breadth, AI, trust,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060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293B"/>
                </a:solidFill>
              </a:rPr>
              <a:t>AAQUA</a:t>
            </a:r>
          </a:p>
          <a:p>
            <a:r>
              <a:rPr sz="1800">
                <a:solidFill>
                  <a:srgbClr val="64748B"/>
                </a:solidFill>
              </a:rPr>
              <a:t>AI-Assisted QA Utility Application  —  generate, run, secure &amp; ship quality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0292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What is AAQUA?</a:t>
            </a:r>
          </a:p>
          <a:p>
            <a:r>
              <a:rPr sz="1400" i="1">
                <a:solidFill>
                  <a:srgbClr val="6D28D9"/>
                </a:solidFill>
              </a:rPr>
              <a:t>An AI-driven platform that covers the QA lifecycle in one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AI-assisted QA platform</a:t>
            </a:r>
            <a:r>
              <a:rPr sz="1400">
                <a:solidFill>
                  <a:srgbClr val="64748B"/>
                </a:solidFill>
              </a:rPr>
              <a:t> — turns requirements and live apps into test artifacts, runs them, and measures release readiness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One workspace, many disciplines</a:t>
            </a:r>
            <a:r>
              <a:rPr sz="1400">
                <a:solidFill>
                  <a:srgbClr val="64748B"/>
                </a:solidFill>
              </a:rPr>
              <a:t> — functional, API, security, localization and accessibility testing together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On-prem AI</a:t>
            </a:r>
            <a:r>
              <a:rPr sz="1400">
                <a:solidFill>
                  <a:srgbClr val="64748B"/>
                </a:solidFill>
              </a:rPr>
              <a:t> — powered by a local LLM (gpt-oss) — data stays inside Aaseya's network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Web-based</a:t>
            </a:r>
            <a:r>
              <a:rPr sz="1400">
                <a:solidFill>
                  <a:srgbClr val="64748B"/>
                </a:solidFill>
              </a:rPr>
              <a:t> — a React + Express application; nothing to install for end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0292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Why AAQUA</a:t>
            </a:r>
          </a:p>
          <a:p>
            <a:r>
              <a:rPr sz="1400" i="1">
                <a:solidFill>
                  <a:srgbClr val="6D28D9"/>
                </a:solidFill>
              </a:rPr>
              <a:t>The problems it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Slow, inconsistent manual test writing</a:t>
            </a:r>
            <a:r>
              <a:rPr sz="1400">
                <a:solidFill>
                  <a:srgbClr val="64748B"/>
                </a:solidFill>
              </a:rPr>
              <a:t> — AI generates comprehensive, review-ready cases in seconds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Fragmented, disconnected tools</a:t>
            </a:r>
            <a:r>
              <a:rPr sz="1400">
                <a:solidFill>
                  <a:srgbClr val="64748B"/>
                </a:solidFill>
              </a:rPr>
              <a:t> — a single platform across functional / API / security / a11y / localization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No clear view of release quality</a:t>
            </a:r>
            <a:r>
              <a:rPr sz="1400">
                <a:solidFill>
                  <a:srgbClr val="64748B"/>
                </a:solidFill>
              </a:rPr>
              <a:t> — governance scoring and a release-readiness dashboard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Data-privacy concerns with cloud AI</a:t>
            </a:r>
            <a:r>
              <a:rPr sz="1400">
                <a:solidFill>
                  <a:srgbClr val="64748B"/>
                </a:solidFill>
              </a:rPr>
              <a:t> — the LLM runs on-premises — nothing sent to external providers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Framework setup overhead</a:t>
            </a:r>
            <a:r>
              <a:rPr sz="1400">
                <a:solidFill>
                  <a:srgbClr val="64748B"/>
                </a:solidFill>
              </a:rPr>
              <a:t> — generates ready-to-run automation projects, not just test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0292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The AAQUA Suite</a:t>
            </a:r>
          </a:p>
          <a:p>
            <a:r>
              <a:rPr sz="1400" i="1">
                <a:solidFill>
                  <a:srgbClr val="6D28D9"/>
                </a:solidFill>
              </a:rPr>
              <a:t>A toolbox of AI-powered QA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Functional Test Generator</a:t>
            </a:r>
            <a:r>
              <a:rPr sz="1400">
                <a:solidFill>
                  <a:srgbClr val="64748B"/>
                </a:solidFill>
              </a:rPr>
              <a:t> — requirements → detailed test cases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Test Plan &amp; Test Data Generators</a:t>
            </a:r>
            <a:r>
              <a:rPr sz="1400">
                <a:solidFill>
                  <a:srgbClr val="64748B"/>
                </a:solidFill>
              </a:rPr>
              <a:t> — plans and realistic data sets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API Test Generator</a:t>
            </a:r>
            <a:r>
              <a:rPr sz="1400">
                <a:solidFill>
                  <a:srgbClr val="64748B"/>
                </a:solidFill>
              </a:rPr>
              <a:t> — specs/endpoints → cases, flows &amp; code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Smart Locators</a:t>
            </a:r>
            <a:r>
              <a:rPr sz="1400">
                <a:solidFill>
                  <a:srgbClr val="64748B"/>
                </a:solidFill>
              </a:rPr>
              <a:t> — stable, AI-improved element locators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Framework Generator</a:t>
            </a:r>
            <a:r>
              <a:rPr sz="1400">
                <a:solidFill>
                  <a:srgbClr val="64748B"/>
                </a:solidFill>
              </a:rPr>
              <a:t> — Playwright/Cypress/Selenium scaffolds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Migration Service</a:t>
            </a:r>
            <a:r>
              <a:rPr sz="1400">
                <a:solidFill>
                  <a:srgbClr val="64748B"/>
                </a:solidFill>
              </a:rPr>
              <a:t> — convert legacy test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8308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Test Runner</a:t>
            </a:r>
            <a:r>
              <a:rPr sz="1400">
                <a:solidFill>
                  <a:srgbClr val="64748B"/>
                </a:solidFill>
              </a:rPr>
              <a:t> — execute &amp; auto-heal Playwright suites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Localization Tester</a:t>
            </a:r>
            <a:r>
              <a:rPr sz="1400">
                <a:solidFill>
                  <a:srgbClr val="64748B"/>
                </a:solidFill>
              </a:rPr>
              <a:t> — i18n / translation checks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Accessibility Scanner</a:t>
            </a:r>
            <a:r>
              <a:rPr sz="1400">
                <a:solidFill>
                  <a:srgbClr val="64748B"/>
                </a:solidFill>
              </a:rPr>
              <a:t> — WCAG / axe-based audits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Security Scanner</a:t>
            </a:r>
            <a:r>
              <a:rPr sz="1400">
                <a:solidFill>
                  <a:srgbClr val="64748B"/>
                </a:solidFill>
              </a:rPr>
              <a:t> — OWASP ZAP-driven scanning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Release Intelligence</a:t>
            </a:r>
            <a:r>
              <a:rPr sz="1400">
                <a:solidFill>
                  <a:srgbClr val="64748B"/>
                </a:solidFill>
              </a:rPr>
              <a:t> — governance &amp; readiness scoring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029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2468880" cy="100584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React + Vite SPA
(browser UI)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194560"/>
            <a:ext cx="2468880" cy="1005840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Express API
(:3001)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914400"/>
            <a:ext cx="466344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Local LLM  •  gpt-oss-20b (on-prem, OpenAI-compatible)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74519"/>
            <a:ext cx="466344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OWASP ZAP  •  security scanning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834640"/>
            <a:ext cx="466344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Playwright  •  browser automation &amp; test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794760"/>
            <a:ext cx="466344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PostgreSQL  •  projects, results,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206240"/>
            <a:ext cx="2468880" cy="8229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Keycloak (OIDC)
auth &amp;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</a:rPr>
              <a:t>Browser SPA → Express API → fans out to the on-prem LLM, OWASP ZAP, Playwright and PostgreSQL. Identity is delegated to Keycloak (OIDC, code+PKCE); the LLM runs inside the network so data never leaves Aaseya.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0292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Test Case &amp; Plan Generation</a:t>
            </a:r>
          </a:p>
          <a:p>
            <a:r>
              <a:rPr sz="1400" i="1">
                <a:solidFill>
                  <a:srgbClr val="6D28D9"/>
                </a:solidFill>
              </a:rPr>
              <a:t>From a requirement to a review-ready test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Comprehensive coverage</a:t>
            </a:r>
            <a:r>
              <a:rPr sz="1400">
                <a:solidFill>
                  <a:srgbClr val="64748B"/>
                </a:solidFill>
              </a:rPr>
              <a:t> — positive, negative, boundary, edge, security, navigation, read-only-field &amp; cancel flows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Reviewer-friendly</a:t>
            </a:r>
            <a:r>
              <a:rPr sz="1400">
                <a:solidFill>
                  <a:srgbClr val="64748B"/>
                </a:solidFill>
              </a:rPr>
              <a:t> — numbered steps with preconditions and concrete test data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Test plans &amp; data</a:t>
            </a:r>
            <a:r>
              <a:rPr sz="1400">
                <a:solidFill>
                  <a:srgbClr val="64748B"/>
                </a:solidFill>
              </a:rPr>
              <a:t> — generate structured test plans and realistic test data sets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Export</a:t>
            </a:r>
            <a:r>
              <a:rPr sz="1400">
                <a:solidFill>
                  <a:srgbClr val="64748B"/>
                </a:solidFill>
              </a:rPr>
              <a:t> — one-click Excel / JSON for execution, sharing or import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0292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API Test Generator</a:t>
            </a:r>
          </a:p>
          <a:p>
            <a:r>
              <a:rPr sz="1400" i="1">
                <a:solidFill>
                  <a:srgbClr val="6D28D9"/>
                </a:solidFill>
              </a:rPr>
              <a:t>OpenAPI/Swagger, raw spec, file upload, or manual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Spec-grounded cases</a:t>
            </a:r>
            <a:r>
              <a:rPr sz="1400">
                <a:solidFill>
                  <a:srgbClr val="64748B"/>
                </a:solidFill>
              </a:rPr>
              <a:t> — assertions &amp; status codes derived from the documented API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Process-flow (BPMN) mode</a:t>
            </a:r>
            <a:r>
              <a:rPr sz="1400">
                <a:solidFill>
                  <a:srgbClr val="64748B"/>
                </a:solidFill>
              </a:rPr>
              <a:t> — ordered, multi-step flows for orchestrated back-ends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Manual + automated</a:t>
            </a:r>
            <a:r>
              <a:rPr sz="1400">
                <a:solidFill>
                  <a:srgbClr val="64748B"/>
                </a:solidFill>
              </a:rPr>
              <a:t> — preconditions &amp; plain-language steps, plus runnable REST Assured / Playwright projects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Persona-aware auth</a:t>
            </a:r>
            <a:r>
              <a:rPr sz="1400">
                <a:solidFill>
                  <a:srgbClr val="64748B"/>
                </a:solidFill>
              </a:rPr>
              <a:t> — handles secured endpoints and role-based flows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0292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Frameworks, Locators &amp; Migration</a:t>
            </a:r>
          </a:p>
          <a:p>
            <a:r>
              <a:rPr sz="1400" i="1">
                <a:solidFill>
                  <a:srgbClr val="6D28D9"/>
                </a:solidFill>
              </a:rPr>
              <a:t>Bootstrap and modernize automation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Framework Generator</a:t>
            </a:r>
            <a:r>
              <a:rPr sz="1400">
                <a:solidFill>
                  <a:srgbClr val="64748B"/>
                </a:solidFill>
              </a:rPr>
              <a:t> — Playwright / Cypress / Selenium with POM, reporting, CI/CD, Docker — self-provisioning &amp; runnable out of the box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Smart Locators</a:t>
            </a:r>
            <a:r>
              <a:rPr sz="1400">
                <a:solidFill>
                  <a:srgbClr val="64748B"/>
                </a:solidFill>
              </a:rPr>
              <a:t> — generates stable element locators and AI-improves weak ones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Migration Service</a:t>
            </a:r>
            <a:r>
              <a:rPr sz="1400">
                <a:solidFill>
                  <a:srgbClr val="64748B"/>
                </a:solidFill>
              </a:rPr>
              <a:t> — converts existing test projects into a target framework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0292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Test Runner &amp; Self-Healing</a:t>
            </a:r>
          </a:p>
          <a:p>
            <a:r>
              <a:rPr sz="1400" i="1">
                <a:solidFill>
                  <a:srgbClr val="6D28D9"/>
                </a:solidFill>
              </a:rPr>
              <a:t>Execute suites and recover from breakages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Run Playwright projects</a:t>
            </a:r>
            <a:r>
              <a:rPr sz="1400">
                <a:solidFill>
                  <a:srgbClr val="64748B"/>
                </a:solidFill>
              </a:rPr>
              <a:t> — local path or uploaded ZIP, headless or headed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Live log streaming</a:t>
            </a:r>
            <a:r>
              <a:rPr sz="1400">
                <a:solidFill>
                  <a:srgbClr val="64748B"/>
                </a:solidFill>
              </a:rPr>
              <a:t> — watch progress in real time; full logs retained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AI auto-heal</a:t>
            </a:r>
            <a:r>
              <a:rPr sz="1400">
                <a:solidFill>
                  <a:srgbClr val="64748B"/>
                </a:solidFill>
              </a:rPr>
              <a:t> — suggests &amp; applies fixes for broken locators/steps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Results feed readiness</a:t>
            </a:r>
            <a:r>
              <a:rPr sz="1400">
                <a:solidFill>
                  <a:srgbClr val="64748B"/>
                </a:solidFill>
              </a:rPr>
              <a:t> — pass-rate and failures roll up into Release 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0292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Localization &amp; Accessibility</a:t>
            </a:r>
          </a:p>
          <a:p>
            <a:r>
              <a:rPr sz="1400" i="1">
                <a:solidFill>
                  <a:srgbClr val="6D28D9"/>
                </a:solidFill>
              </a:rPr>
              <a:t>Quality beyond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Localization Tester</a:t>
            </a:r>
            <a:r>
              <a:rPr sz="1400">
                <a:solidFill>
                  <a:srgbClr val="64748B"/>
                </a:solidFill>
              </a:rPr>
              <a:t> — captures the page and AI-analyzes translation, missing keys &amp; layout overflow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Accessibility Scanner</a:t>
            </a:r>
            <a:r>
              <a:rPr sz="1400">
                <a:solidFill>
                  <a:srgbClr val="64748B"/>
                </a:solidFill>
              </a:rPr>
              <a:t> — axe-core checks + AI audit across WCAG severities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Actionable output</a:t>
            </a:r>
            <a:r>
              <a:rPr sz="1400">
                <a:solidFill>
                  <a:srgbClr val="64748B"/>
                </a:solidFill>
              </a:rPr>
              <a:t> — scored results with issues you can log to Jira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Project-scoped history</a:t>
            </a:r>
            <a:r>
              <a:rPr sz="1400">
                <a:solidFill>
                  <a:srgbClr val="64748B"/>
                </a:solidFill>
              </a:rPr>
              <a:t> — results tracked per project over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0292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AI Secure Engine</a:t>
            </a:r>
          </a:p>
          <a:p>
            <a:r>
              <a:rPr sz="1400" i="1">
                <a:solidFill>
                  <a:srgbClr val="6D28D9"/>
                </a:solidFill>
              </a:rPr>
              <a:t>Security testing built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OWASP ZAP scanning</a:t>
            </a:r>
            <a:r>
              <a:rPr sz="1400">
                <a:solidFill>
                  <a:srgbClr val="64748B"/>
                </a:solidFill>
              </a:rPr>
              <a:t> — baseline (passive), active (attack) and API (spec-import) scans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AI vulnerability analysis</a:t>
            </a:r>
            <a:r>
              <a:rPr sz="1400">
                <a:solidFill>
                  <a:srgbClr val="64748B"/>
                </a:solidFill>
              </a:rPr>
              <a:t> — LLM-assisted triage and explanation of findings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SSRF-protected targets</a:t>
            </a:r>
            <a:r>
              <a:rPr sz="1400">
                <a:solidFill>
                  <a:srgbClr val="64748B"/>
                </a:solidFill>
              </a:rPr>
              <a:t> — scan targets validated; private ranges gated by policy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Jira integration</a:t>
            </a:r>
            <a:r>
              <a:rPr sz="1400">
                <a:solidFill>
                  <a:srgbClr val="64748B"/>
                </a:solidFill>
              </a:rPr>
              <a:t> — raise defects from findings directly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0292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Release Intelligence &amp; Governance</a:t>
            </a:r>
          </a:p>
          <a:p>
            <a:r>
              <a:rPr sz="1400" i="1">
                <a:solidFill>
                  <a:srgbClr val="6D28D9"/>
                </a:solidFill>
              </a:rPr>
              <a:t>A single signal for 'are we ready to ship?'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Aggregated readiness</a:t>
            </a:r>
            <a:r>
              <a:rPr sz="1400">
                <a:solidFill>
                  <a:srgbClr val="64748B"/>
                </a:solidFill>
              </a:rPr>
              <a:t> — combines automation, accessibility, localization &amp; security results per project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Release gating</a:t>
            </a:r>
            <a:r>
              <a:rPr sz="1400">
                <a:solidFill>
                  <a:srgbClr val="64748B"/>
                </a:solidFill>
              </a:rPr>
              <a:t> — blocks release when critical + high findings exceed policy thresholds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Project-scoped workspaces</a:t>
            </a:r>
            <a:r>
              <a:rPr sz="1400">
                <a:solidFill>
                  <a:srgbClr val="64748B"/>
                </a:solidFill>
              </a:rPr>
              <a:t> — every activity bound to a project &amp; its target app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Dashboards</a:t>
            </a:r>
            <a:r>
              <a:rPr sz="1400">
                <a:solidFill>
                  <a:srgbClr val="64748B"/>
                </a:solidFill>
              </a:rPr>
              <a:t> — trends and current quality posture at a glance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0292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Integrations, Identity &amp; Access</a:t>
            </a:r>
          </a:p>
          <a:p>
            <a:r>
              <a:rPr sz="1400" i="1">
                <a:solidFill>
                  <a:srgbClr val="6D28D9"/>
                </a:solidFill>
              </a:rPr>
              <a:t>Enterprise-ready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Keycloak (OIDC)</a:t>
            </a:r>
            <a:r>
              <a:rPr sz="1400">
                <a:solidFill>
                  <a:srgbClr val="64748B"/>
                </a:solidFill>
              </a:rPr>
              <a:t> — single sign-on, code+PKCE flow, role-based access control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Jira</a:t>
            </a:r>
            <a:r>
              <a:rPr sz="1400">
                <a:solidFill>
                  <a:srgbClr val="64748B"/>
                </a:solidFill>
              </a:rPr>
              <a:t> — log defects/issues straight from results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On-prem LLM</a:t>
            </a:r>
            <a:r>
              <a:rPr sz="1400">
                <a:solidFill>
                  <a:srgbClr val="64748B"/>
                </a:solidFill>
              </a:rPr>
              <a:t> — OpenAI-compatible local model — data stays internal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Shared-infra deployment</a:t>
            </a:r>
            <a:r>
              <a:rPr sz="1400">
                <a:solidFill>
                  <a:srgbClr val="64748B"/>
                </a:solidFill>
              </a:rPr>
              <a:t> — containerized, path-prefixed multi-tenant hosting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0292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Technology &amp; Deployment</a:t>
            </a:r>
          </a:p>
          <a:p>
            <a:r>
              <a:rPr sz="1400" i="1">
                <a:solidFill>
                  <a:srgbClr val="6D28D9"/>
                </a:solidFill>
              </a:rPr>
              <a:t>Modern, containerized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Frontend</a:t>
            </a:r>
            <a:r>
              <a:rPr sz="1400">
                <a:solidFill>
                  <a:srgbClr val="64748B"/>
                </a:solidFill>
              </a:rPr>
              <a:t> — React 19 + React Router + Vite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Backend</a:t>
            </a:r>
            <a:r>
              <a:rPr sz="1400">
                <a:solidFill>
                  <a:srgbClr val="64748B"/>
                </a:solidFill>
              </a:rPr>
              <a:t> — Node.js / Express 5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AI</a:t>
            </a:r>
            <a:r>
              <a:rPr sz="1400">
                <a:solidFill>
                  <a:srgbClr val="64748B"/>
                </a:solidFill>
              </a:rPr>
              <a:t> — on-prem LLM (gpt-oss-20b), OpenAI-compatible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8308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Engines</a:t>
            </a:r>
            <a:r>
              <a:rPr sz="1400">
                <a:solidFill>
                  <a:srgbClr val="64748B"/>
                </a:solidFill>
              </a:rPr>
              <a:t> — OWASP ZAP, Playwright, axe-core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Data &amp; auth</a:t>
            </a:r>
            <a:r>
              <a:rPr sz="1400">
                <a:solidFill>
                  <a:srgbClr val="64748B"/>
                </a:solidFill>
              </a:rPr>
              <a:t> — PostgreSQL (Sequelize ORM), Keycloak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Delivery</a:t>
            </a:r>
            <a:r>
              <a:rPr sz="1400">
                <a:solidFill>
                  <a:srgbClr val="64748B"/>
                </a:solidFill>
              </a:rPr>
              <a:t> — Docker / shared-infra, Nginx path-prefix routing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0292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AAQUA in a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One AI-powered platform</a:t>
            </a:r>
            <a:r>
              <a:rPr sz="1400">
                <a:solidFill>
                  <a:srgbClr val="64748B"/>
                </a:solidFill>
              </a:rPr>
              <a:t> — for the entire QA lifecycle — generate, run, secure, and ship with confidence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Breadth</a:t>
            </a:r>
            <a:r>
              <a:rPr sz="1400">
                <a:solidFill>
                  <a:srgbClr val="64748B"/>
                </a:solidFill>
              </a:rPr>
              <a:t> — functional, API, security, localization, accessibility &amp; release governance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Trust</a:t>
            </a:r>
            <a:r>
              <a:rPr sz="1400">
                <a:solidFill>
                  <a:srgbClr val="64748B"/>
                </a:solidFill>
              </a:rPr>
              <a:t> — on-prem AI, enterprise auth, and built-in security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293B"/>
                </a:solidFill>
              </a:rPr>
              <a:t>▸ Outcome</a:t>
            </a:r>
            <a:r>
              <a:rPr sz="1400">
                <a:solidFill>
                  <a:srgbClr val="64748B"/>
                </a:solidFill>
              </a:rPr>
              <a:t> — less manual effort, consistent quality, and a clear release signal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